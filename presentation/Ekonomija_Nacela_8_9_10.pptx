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57" r:id="rId3"/>
    <p:sldId id="258" r:id="rId4"/>
    <p:sldId id="259" r:id="rId5"/>
    <p:sldId id="260" r:id="rId6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sr-Cyrl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8BD32-B02B-4F15-BBBF-D5E2AE26F453}" v="418" dt="2026-10-21T13:33:55.519"/>
    <p1510:client id="{9900B9BC-7AC7-4370-AB65-4B5831AB0728}" v="309" dt="2026-10-21T14:12:48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5/10/relationships/revisionInfo" Target="revisionInfo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FFFFFF"/>
                </a:solidFill>
                <a:latin typeface="Times New Roman"/>
              </a:rPr>
              <a:t>Dohodak po stanovniku, 2021. (US$)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Dohodak po stanovniku (US$)</c:v>
                </c:pt>
              </c:strCache>
            </c:strRef>
          </c:tx>
          <c:spPr>
            <a:solidFill>
              <a:srgbClr val="CCAEE8"/>
            </a:solidFill>
          </c:spPr>
          <c:dPt>
            <c:idx val="4"/>
            <c:spPr>
              <a:solidFill>
                <a:srgbClr val="F2C14E"/>
              </a:solidFill>
            </c:spPr>
          </c:dPt>
          <c:cat>
            <c:strRef>
              <c:f>Sheet1!$A$2:$A$8</c:f>
              <c:strCache>
                <c:ptCount val="7"/>
                <c:pt idx="0">
                  <c:v>SAD</c:v>
                </c:pt>
                <c:pt idx="1">
                  <c:v>Italija</c:v>
                </c:pt>
                <c:pt idx="2">
                  <c:v>Kina</c:v>
                </c:pt>
                <c:pt idx="3">
                  <c:v>Meksiko</c:v>
                </c:pt>
                <c:pt idx="4">
                  <c:v>Srbija</c:v>
                </c:pt>
                <c:pt idx="5">
                  <c:v>Nigerija</c:v>
                </c:pt>
                <c:pt idx="6">
                  <c:v>Etiopija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61280</c:v>
                </c:pt>
                <c:pt idx="1">
                  <c:v>31511</c:v>
                </c:pt>
                <c:pt idx="2">
                  <c:v>11188</c:v>
                </c:pt>
                <c:pt idx="3">
                  <c:v>9255</c:v>
                </c:pt>
                <c:pt idx="4">
                  <c:v>7089</c:v>
                </c:pt>
                <c:pt idx="5">
                  <c:v>2421</c:v>
                </c:pt>
                <c:pt idx="6">
                  <c:v>852</c:v>
                </c:pt>
              </c:numCache>
            </c:numRef>
          </c:val>
        </c:ser>
        <c:dLbls>
          <c:numFmt formatCode="#,##0&quot; $&quot;" sourceLinked="0"/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2F0"/>
            </a:solidFill>
          </a:ln>
        </c:spPr>
        <c:txPr>
          <a:bodyPr/>
          <a:lstStyle/>
          <a:p>
            <a:pPr>
              <a:defRPr sz="1400">
                <a:solidFill>
                  <a:srgbClr val="FFFFFF"/>
                </a:solidFill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36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61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395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33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70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44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51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23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64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90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180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880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4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55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004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0503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522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0885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слов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Cyrl-RS">
                <a:latin typeface="Times New Roman"/>
                <a:cs typeface="Times New Roman"/>
              </a:rPr>
              <a:t>Ekonomija za pravnike</a:t>
            </a:r>
          </a:p>
        </p:txBody>
      </p:sp>
      <p:sp>
        <p:nvSpPr>
          <p:cNvPr id="3" name="Поднаслов 2"/>
          <p:cNvSpPr>
            <a:spLocks noGrp="1"/>
          </p:cNvSpPr>
          <p:nvPr>
            <p:ph type="subTitle" idx="1"/>
          </p:nvPr>
        </p:nvSpPr>
        <p:spPr>
          <a:xfrm>
            <a:off x="960120" y="4305943"/>
            <a:ext cx="10268712" cy="150876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sr-Cyrl-RS"/>
              <a:t>Načelo 8,9,10</a:t>
            </a:r>
          </a:p>
          <a:p>
            <a:endParaRPr lang="sr-Cyrl-RS" dirty="0"/>
          </a:p>
          <a:p>
            <a:pPr algn="r"/>
            <a:r>
              <a:rPr lang="sr-Cyrl-RS" dirty="0"/>
              <a:t>                                                                                      </a:t>
            </a:r>
            <a:r>
              <a:rPr lang="sr-Cyrl-RS" sz="1200">
                <a:latin typeface="Times New Roman"/>
                <a:cs typeface="Times New Roman"/>
              </a:rPr>
              <a:t>Ilija Aleksić 014/26</a:t>
            </a:r>
          </a:p>
          <a:p>
            <a:pPr algn="r"/>
            <a:r>
              <a:rPr lang="sr-Cyrl-RS" sz="1200">
                <a:latin typeface="Times New Roman"/>
                <a:cs typeface="Times New Roman"/>
              </a:rPr>
              <a:t>                                                                                                                                                    Matija Bogdanović 167/26</a:t>
            </a:r>
          </a:p>
          <a:p>
            <a:pPr algn="r"/>
            <a:r>
              <a:rPr lang="sr-Cyrl-RS" sz="1200">
                <a:latin typeface="Times New Roman"/>
                <a:cs typeface="Times New Roman"/>
              </a:rPr>
              <a:t>                                                                                                                                                  Pavle Anđelković 009/26</a:t>
            </a:r>
            <a:endParaRPr lang="sr-Cyrl-RS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6568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слов 1">
            <a:extLst>
              <a:ext uri="{FF2B5EF4-FFF2-40B4-BE49-F238E27FC236}">
                <a16:creationId xmlns:a16="http://schemas.microsoft.com/office/drawing/2014/main" id="{C512BD50-F18C-0F1E-DE6B-6525E0BD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>
                <a:latin typeface="Times New Roman"/>
                <a:ea typeface="Calibri Light"/>
                <a:cs typeface="Times New Roman"/>
              </a:rPr>
              <a:t>Načelo 8: </a:t>
            </a:r>
            <a:r>
              <a:rPr lang="sr-Cyrl-RS" sz="1800">
                <a:latin typeface="Times New Roman"/>
                <a:ea typeface="Calibri Light"/>
                <a:cs typeface="Times New Roman"/>
              </a:rPr>
              <a:t>INstitucije determinišu ponasanje privrednih subjekata </a:t>
            </a:r>
          </a:p>
        </p:txBody>
      </p:sp>
      <p:sp>
        <p:nvSpPr>
          <p:cNvPr id="3" name="Чувар места за садржај 2">
            <a:extLst>
              <a:ext uri="{FF2B5EF4-FFF2-40B4-BE49-F238E27FC236}">
                <a16:creationId xmlns:a16="http://schemas.microsoft.com/office/drawing/2014/main" id="{1E324F0C-712E-4AB3-21BD-1061ED008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Cyrl-RS" sz="1600">
                <a:latin typeface="Times New Roman"/>
                <a:ea typeface="Calibri"/>
                <a:cs typeface="Times New Roman"/>
              </a:rPr>
              <a:t>Ekonomske institucije</a:t>
            </a:r>
          </a:p>
          <a:p>
            <a:pPr>
              <a:buClr>
                <a:srgbClr val="FFFFFF"/>
              </a:buClr>
            </a:pPr>
            <a:r>
              <a:rPr lang="sr-Cyrl-RS" sz="1600">
                <a:latin typeface="Times New Roman"/>
                <a:ea typeface="Calibri"/>
                <a:cs typeface="Times New Roman"/>
              </a:rPr>
              <a:t>Svojina, Tržište, Preduzeće</a:t>
            </a:r>
            <a:endParaRPr lang="sr-Cyrl-RS" sz="1600" dirty="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FFFFFF"/>
              </a:buClr>
            </a:pPr>
            <a:endParaRPr lang="sr-Cyrl-RS" sz="1600" dirty="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FFFFFF"/>
              </a:buClr>
            </a:pPr>
            <a:endParaRPr lang="sr-Cyrl-RS" sz="16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300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слов 1">
            <a:extLst>
              <a:ext uri="{FF2B5EF4-FFF2-40B4-BE49-F238E27FC236}">
                <a16:creationId xmlns:a16="http://schemas.microsoft.com/office/drawing/2014/main" id="{AC68C748-B0F2-6A85-6CE6-BBE884EA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>
                <a:latin typeface="Times New Roman"/>
                <a:ea typeface="Calibri Light"/>
                <a:cs typeface="Times New Roman"/>
              </a:rPr>
              <a:t>Podela institucija i karakteristike</a:t>
            </a:r>
            <a:endParaRPr lang="sr-Cyrl-RS">
              <a:latin typeface="Times New Roman"/>
              <a:cs typeface="Times New Roman"/>
            </a:endParaRPr>
          </a:p>
        </p:txBody>
      </p:sp>
      <p:sp>
        <p:nvSpPr>
          <p:cNvPr id="3" name="Чувар места за садржај 2">
            <a:extLst>
              <a:ext uri="{FF2B5EF4-FFF2-40B4-BE49-F238E27FC236}">
                <a16:creationId xmlns:a16="http://schemas.microsoft.com/office/drawing/2014/main" id="{1B1FEAB7-5566-86AB-5C0A-EB6D3AFDD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>
                <a:latin typeface="Times New Roman"/>
                <a:ea typeface="Calibri"/>
                <a:cs typeface="Times New Roman"/>
              </a:rPr>
              <a:t>Formlane i neformalne</a:t>
            </a:r>
          </a:p>
          <a:p>
            <a:pPr>
              <a:buClr>
                <a:srgbClr val="FFFFFF"/>
              </a:buClr>
            </a:pPr>
            <a:r>
              <a:rPr lang="sr-Cyrl-RS">
                <a:latin typeface="Times New Roman"/>
                <a:ea typeface="Calibri"/>
                <a:cs typeface="Times New Roman"/>
              </a:rPr>
              <a:t>Endogene i egzogene</a:t>
            </a:r>
            <a:endParaRPr lang="sr-Cyrl-RS" dirty="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FFFFFF"/>
              </a:buClr>
            </a:pPr>
            <a:r>
              <a:rPr lang="sr-Cyrl-RS">
                <a:latin typeface="Times New Roman"/>
                <a:ea typeface="Calibri"/>
                <a:cs typeface="Times New Roman"/>
              </a:rPr>
              <a:t>Nominalne(de jure) i efektivne(de facto)</a:t>
            </a:r>
            <a:endParaRPr lang="sr-Cyrl-RS" dirty="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FFFFFF"/>
              </a:buClr>
            </a:pPr>
            <a:r>
              <a:rPr lang="sr-Cyrl-RS">
                <a:latin typeface="Times New Roman"/>
                <a:ea typeface="Calibri"/>
                <a:cs typeface="Times New Roman"/>
              </a:rPr>
              <a:t>Pravne, ekonomske i političke</a:t>
            </a:r>
          </a:p>
          <a:p>
            <a:pPr>
              <a:buClr>
                <a:srgbClr val="FFFFFF"/>
              </a:buClr>
            </a:pPr>
            <a:r>
              <a:rPr lang="sr-Cyrl-RS">
                <a:latin typeface="Times New Roman"/>
                <a:ea typeface="Calibri"/>
                <a:cs typeface="Times New Roman"/>
              </a:rPr>
              <a:t>Karakteristike:  </a:t>
            </a:r>
            <a:endParaRPr lang="sr-Cyrl-RS" dirty="0">
              <a:latin typeface="Times New Roman"/>
              <a:ea typeface="Calibri"/>
              <a:cs typeface="Times New Roman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sr-Cyrl-RS">
                <a:latin typeface="Times New Roman"/>
                <a:ea typeface="Calibri"/>
                <a:cs typeface="Times New Roman"/>
              </a:rPr>
              <a:t>heterogenost i postojanost</a:t>
            </a:r>
            <a:endParaRPr lang="sr-Cyrl-RS" dirty="0">
              <a:latin typeface="Times New Roman"/>
              <a:ea typeface="Calibri"/>
              <a:cs typeface="Times New Roman"/>
            </a:endParaRPr>
          </a:p>
          <a:p>
            <a:pPr marL="0" indent="0">
              <a:buClr>
                <a:srgbClr val="FFFFFF"/>
              </a:buClr>
              <a:buNone/>
            </a:pPr>
            <a:endParaRPr lang="sr-Cyrl-RS" dirty="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FFFFFF"/>
              </a:buClr>
            </a:pPr>
            <a:endParaRPr lang="sr-Cyrl-R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7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слов 1">
            <a:extLst>
              <a:ext uri="{FF2B5EF4-FFF2-40B4-BE49-F238E27FC236}">
                <a16:creationId xmlns:a16="http://schemas.microsoft.com/office/drawing/2014/main" id="{75841CCE-2C9D-8C1B-3599-48A07C337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>
                <a:latin typeface="Times New Roman"/>
                <a:ea typeface="Calibri Light"/>
                <a:cs typeface="Times New Roman"/>
              </a:rPr>
              <a:t>troškovi</a:t>
            </a:r>
            <a:endParaRPr lang="sr-Cyrl-RS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3" name="Чувар места за садржај 2">
            <a:extLst>
              <a:ext uri="{FF2B5EF4-FFF2-40B4-BE49-F238E27FC236}">
                <a16:creationId xmlns:a16="http://schemas.microsoft.com/office/drawing/2014/main" id="{7A338528-2034-6B90-813A-FE4ED2143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>
                <a:latin typeface="Times New Roman"/>
                <a:ea typeface="Calibri"/>
                <a:cs typeface="Times New Roman"/>
              </a:rPr>
              <a:t>Izbor</a:t>
            </a:r>
          </a:p>
          <a:p>
            <a:pPr>
              <a:buClr>
                <a:srgbClr val="FFFFFF"/>
              </a:buClr>
            </a:pPr>
            <a:r>
              <a:rPr lang="sr-Cyrl-RS">
                <a:latin typeface="Times New Roman"/>
                <a:ea typeface="Calibri"/>
                <a:cs typeface="Times New Roman"/>
              </a:rPr>
              <a:t>Transakcioni troškovi</a:t>
            </a:r>
            <a:endParaRPr lang="sr-Cyrl-RS" dirty="0"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FFFFFF"/>
              </a:buClr>
            </a:pPr>
            <a:r>
              <a:rPr lang="sr-Cyrl-RS">
                <a:latin typeface="Times New Roman"/>
                <a:ea typeface="Calibri"/>
                <a:cs typeface="Times New Roman"/>
              </a:rPr>
              <a:t>Pravilan izbor</a:t>
            </a:r>
            <a:endParaRPr lang="sr-Cyrl-R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2116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слов 1">
            <a:extLst>
              <a:ext uri="{FF2B5EF4-FFF2-40B4-BE49-F238E27FC236}">
                <a16:creationId xmlns:a16="http://schemas.microsoft.com/office/drawing/2014/main" id="{5793E164-A142-BA6D-2F6E-7D4CA00DA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>
                <a:latin typeface="Times New Roman"/>
                <a:ea typeface="Calibri Light"/>
                <a:cs typeface="Times New Roman"/>
              </a:rPr>
              <a:t>Efikasnost ekonomskog sistema</a:t>
            </a:r>
            <a:endParaRPr lang="sr-Cyrl-RS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3" name="Чувар места за садржај 2">
            <a:extLst>
              <a:ext uri="{FF2B5EF4-FFF2-40B4-BE49-F238E27FC236}">
                <a16:creationId xmlns:a16="http://schemas.microsoft.com/office/drawing/2014/main" id="{E5804DD6-FFF2-BDD3-8B7D-A4F52AB85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Cyrl-RS">
                <a:latin typeface="Times New Roman"/>
                <a:ea typeface="Calibri"/>
                <a:cs typeface="Times New Roman"/>
              </a:rPr>
              <a:t>-Pravila igre tržišneš utakmice</a:t>
            </a:r>
            <a:endParaRPr lang="sr-Latn-RS">
              <a:latin typeface="Calibri" panose="020F0502020204030204"/>
              <a:ea typeface="Calibri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sr-Cyrl-RS">
                <a:latin typeface="Times New Roman"/>
                <a:ea typeface="Calibri"/>
                <a:cs typeface="Times New Roman"/>
              </a:rPr>
              <a:t>-Pretpostavke efikasnosti ekonomskog sistema</a:t>
            </a:r>
            <a:endParaRPr lang="sr-Latn-RS">
              <a:latin typeface="Calibri" panose="020F0502020204030204"/>
              <a:ea typeface="Calibri"/>
              <a:cs typeface="Calibri" panose="020F0502020204030204"/>
            </a:endParaRPr>
          </a:p>
          <a:p>
            <a:pPr marL="342900" indent="-342900">
              <a:buClr>
                <a:srgbClr val="FFFFFF"/>
              </a:buClr>
              <a:buAutoNum type="arabicParenR"/>
            </a:pPr>
            <a:r>
              <a:rPr lang="sr-Cyrl-RS">
                <a:latin typeface="Times New Roman"/>
                <a:ea typeface="Calibri"/>
                <a:cs typeface="Times New Roman"/>
              </a:rPr>
              <a:t>institucija privatne svojine</a:t>
            </a:r>
            <a:endParaRPr lang="sr-Cyrl-RS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sr-Cyrl-RS">
                <a:latin typeface="Times New Roman"/>
                <a:ea typeface="Calibri"/>
                <a:cs typeface="Times New Roman"/>
              </a:rPr>
              <a:t>2) razvijeno tržište </a:t>
            </a:r>
            <a:endParaRPr lang="sr-Cyrl-RS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sr-Cyrl-RS">
                <a:latin typeface="Times New Roman"/>
                <a:ea typeface="Calibri"/>
                <a:cs typeface="Times New Roman"/>
              </a:rPr>
              <a:t>3) vladavina prava</a:t>
            </a:r>
            <a:endParaRPr lang="sr-Cyrl-R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3330273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Načelo 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400">
                <a:latin typeface="Times New Roman"/>
              </a:rPr>
              <a:t>Životni standard u jednoj zemlji zavisi od njene sposobnosti da proizvodi robe i usluge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Razlike u životnom standardu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65960"/>
            <a:ext cx="4206240" cy="416052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3840480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2C14E"/>
                </a:solidFill>
                <a:latin typeface="Times New Roman"/>
              </a:rPr>
              <a:t>Životni standard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kvalitet života ljudi u jednoj zemlji.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Razlike u životnim standardima širom sveta su velike.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Stanovnici visokorazvijenih zemalja imaju bolje stanove, bolja kola, bolju ishranu, zdravstvenu zaštitu i duži životni vek od stanovnika niskodohodnih zemalja.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166360" y="1965960"/>
          <a:ext cx="63093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66360" y="5806440"/>
            <a:ext cx="63093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D9D2F0"/>
                </a:solidFill>
                <a:latin typeface="Times New Roman"/>
              </a:rPr>
              <a:t>BDP po glavi stanovnika, u US$ po vrednosti iz 2015. Izvor: Svetska banka (prema udžbeniku)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Promene tokom vremena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65960"/>
            <a:ext cx="3246120" cy="246888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28803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 i="0">
                <a:solidFill>
                  <a:srgbClr val="F2C14E"/>
                </a:solidFill>
                <a:latin typeface="Times New Roman"/>
              </a:rPr>
              <a:t>≈3%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278892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godišnje raste prosečan dohodak u SAD-u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65960"/>
            <a:ext cx="3246120" cy="246888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28803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 i="0">
                <a:solidFill>
                  <a:srgbClr val="F2C14E"/>
                </a:solidFill>
                <a:latin typeface="Times New Roman"/>
              </a:rPr>
              <a:t>23 godine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3337560"/>
            <a:ext cx="278892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po toj stopi prosečan dohodak se udvostručuje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965960"/>
            <a:ext cx="3246120" cy="246888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2286000"/>
            <a:ext cx="28803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 i="0">
                <a:solidFill>
                  <a:srgbClr val="F2C14E"/>
                </a:solidFill>
                <a:latin typeface="Times New Roman"/>
              </a:rPr>
              <a:t>1 →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337560"/>
            <a:ext cx="278892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triliona $ – dohodak Kine 1990. i 2021. godine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79"/>
            <a:ext cx="1065276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U nekim zemljama dohodak se značajno povećao u poslednjih 30 godina – najbolji primer je Kina, čiji je dohodak 2021. godine iznosio skoro 16 triliona dolara, dok je 1990. godine iznosio oko 1 trilion dolara.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Odgovor: produktivnost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6527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Šta objašnjava velike razlike u životnim standardima između zemalja i tokom vremena? Skoro sve razlike pripisuju se razlikama u produktivnosti.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926080"/>
            <a:ext cx="1065276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241280" cy="10515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2C14E"/>
                </a:solidFill>
                <a:latin typeface="Times New Roman"/>
              </a:rPr>
              <a:t>Produktivnost</a:t>
            </a:r>
            <a:r>
              <a:rPr sz="2000" b="0" i="0">
                <a:solidFill>
                  <a:srgbClr val="FFFFFF"/>
                </a:solidFill>
                <a:latin typeface="Times New Roman"/>
              </a:rPr>
              <a:t> – količina roba i usluga proizvedenih u svakom satu radnog vremena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343400"/>
            <a:ext cx="5097780" cy="173736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480560"/>
            <a:ext cx="473202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2C14E"/>
                </a:solidFill>
                <a:latin typeface="Times New Roman"/>
              </a:rPr>
              <a:t>Visoka produktivnost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Radnici proizvode veliku količinu roba i usluga po jedinici vremena → većina ljudi uživa visok standard života.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0780" y="4343400"/>
            <a:ext cx="5097780" cy="173736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3660" y="4480560"/>
            <a:ext cx="473202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CAEE8"/>
                </a:solidFill>
                <a:latin typeface="Times New Roman"/>
              </a:rPr>
              <a:t>Niska produktivnost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Radnici su manje produktivni → većina ljudi lošije živi. Stopa rasta produktivnosti određuje stopu rasta prosečnog dohotka.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Produktivnost i državna politika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65276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Suštinsko pitanje za svaku politiku: kako će uticati na sposobnost privrede da proizvodi robe i usluge? Za bolji životni standard kreatori politike treba da povećavaju produktivnost: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246120"/>
            <a:ext cx="3246120" cy="265176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97379" y="356616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A145C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278892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Bolje obrazovanje radnika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46120"/>
            <a:ext cx="3246120" cy="265176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00699" y="356616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A145C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4617720"/>
            <a:ext cx="278892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Nabavka savremene proizvodne opreme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246120"/>
            <a:ext cx="3246120" cy="265176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04020" y="356616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A145C"/>
                </a:solidFill>
                <a:latin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617720"/>
            <a:ext cx="278892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Pristup najboljoj raspoloživoj tehnologiji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Šta pokreće rast produktivnosti?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6527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Rast produktivnosti u poslednja dva veka, pre svega u zapadnim zemljama, doveo je do nezapamćenih stopa privrednog rasta. Ključni faktori: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880360"/>
            <a:ext cx="2457450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2183130" cy="1508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C14E"/>
                </a:solidFill>
                <a:latin typeface="Times New Roman"/>
              </a:rPr>
              <a:t>Inovacije i tehnološki progres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novi načini proizvodnje, bolji kvalitet i nove vrste proizvoda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7570" y="2880360"/>
            <a:ext cx="2457450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4729" y="3017520"/>
            <a:ext cx="2183130" cy="1508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C14E"/>
                </a:solidFill>
                <a:latin typeface="Times New Roman"/>
              </a:rPr>
              <a:t>Preduzetništvo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usko povezano sa inovativnošću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880360"/>
            <a:ext cx="2457450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6500" y="3017520"/>
            <a:ext cx="2183130" cy="1508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C14E"/>
                </a:solidFill>
                <a:latin typeface="Times New Roman"/>
              </a:rPr>
              <a:t>Investicije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u ljudski i realni kapital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1109" y="2880360"/>
            <a:ext cx="2457450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8269" y="3017520"/>
            <a:ext cx="2183130" cy="1508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C14E"/>
                </a:solidFill>
                <a:latin typeface="Times New Roman"/>
              </a:rPr>
              <a:t>Trgovina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bazirana na specijalizaciji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00600"/>
            <a:ext cx="10652760" cy="1325880"/>
          </a:xfrm>
          <a:prstGeom prst="roundRect">
            <a:avLst>
              <a:gd name="adj" fmla="val 8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24128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2C14E"/>
                </a:solidFill>
                <a:latin typeface="Times New Roman"/>
              </a:rPr>
              <a:t>Uslov za sve to: izgrađene institucije</a:t>
            </a:r>
            <a:r>
              <a:rPr sz="1600" b="0" i="0">
                <a:solidFill>
                  <a:srgbClr val="FFFFFF"/>
                </a:solidFill>
                <a:latin typeface="Times New Roman"/>
              </a:rPr>
              <a:t> – jasno definisana pravila igre (načelo 8).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Kina, Bocvana i neke države na jugu SAD-a „probile su kalup“: rast i životni standard počeli su da rastu kada su postepeno izgradile političke i ekonomske institucije.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Budžetski deficit i životni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6527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2C14E"/>
                </a:solidFill>
                <a:latin typeface="Times New Roman"/>
              </a:rPr>
              <a:t>Deficit državnog budžeta</a:t>
            </a:r>
            <a:r>
              <a:rPr sz="1800" b="0" i="0">
                <a:solidFill>
                  <a:srgbClr val="FFFFFF"/>
                </a:solidFill>
                <a:latin typeface="Times New Roman"/>
              </a:rPr>
              <a:t> – prekoračenje trošenja države preko sopstvenih prihoda. Nepovoljno utiče na produktivnost, a time i na životni standard.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154680"/>
            <a:ext cx="1783080" cy="182880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4680"/>
            <a:ext cx="1600200" cy="1828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Država se zadužuje na finansijskom tržištu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42032" y="3886200"/>
            <a:ext cx="288035" cy="365760"/>
          </a:xfrm>
          <a:prstGeom prst="rightArrow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03220" y="3154680"/>
            <a:ext cx="1783080" cy="182880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4660" y="3154680"/>
            <a:ext cx="1600200" cy="1828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Manje sredstava za druge zajmoprimce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59452" y="3886200"/>
            <a:ext cx="288035" cy="365760"/>
          </a:xfrm>
          <a:prstGeom prst="rightArrow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3154680"/>
            <a:ext cx="1783080" cy="182880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9" y="3154680"/>
            <a:ext cx="1600200" cy="1828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Manje investicija u ljudski i realni kapital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76872" y="3886200"/>
            <a:ext cx="288035" cy="365760"/>
          </a:xfrm>
          <a:prstGeom prst="rightArrow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38059" y="3154680"/>
            <a:ext cx="1783080" cy="182880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499" y="3154680"/>
            <a:ext cx="1600200" cy="1828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Manja produktivnost u budućnosti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94291" y="3886200"/>
            <a:ext cx="288035" cy="365760"/>
          </a:xfrm>
          <a:prstGeom prst="rightArrow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55480" y="3154680"/>
            <a:ext cx="1783080" cy="1828800"/>
          </a:xfrm>
          <a:prstGeom prst="roundRect">
            <a:avLst>
              <a:gd name="adj" fmla="val 8000"/>
            </a:avLst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19" y="3154680"/>
            <a:ext cx="1600200" cy="1828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C14E"/>
                </a:solidFill>
                <a:latin typeface="Times New Roman"/>
              </a:rPr>
              <a:t>Ugrožen rast životnog standarda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57800"/>
            <a:ext cx="106527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D9D2F0"/>
                </a:solidFill>
                <a:latin typeface="Times New Roman"/>
              </a:rPr>
              <a:t>Primer: država se zadužuje kao student koji plaća poslediplomske studije ili preduzeće koje finansira novu fabriku. Značajan i dugotrajan deficit ugrožava rast životnog standarda.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Načelo 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400">
                <a:latin typeface="Times New Roman"/>
              </a:rPr>
              <a:t>Cene rastu kada država štampa previše novca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Primer iz Nemačke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65960"/>
            <a:ext cx="4023360" cy="210312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3749039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D9D2F0"/>
                </a:solidFill>
                <a:latin typeface="Times New Roman"/>
              </a:rPr>
              <a:t>Januar 1921.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3749039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CCAEE8"/>
                </a:solidFill>
                <a:latin typeface="Times New Roman"/>
              </a:rPr>
              <a:t>0,30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39"/>
            <a:ext cx="3749039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maraka za dnevne novine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92040" y="2743200"/>
            <a:ext cx="685800" cy="548640"/>
          </a:xfrm>
          <a:prstGeom prst="rightArrow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965960"/>
            <a:ext cx="5577840" cy="2103120"/>
          </a:xfrm>
          <a:prstGeom prst="roundRect">
            <a:avLst>
              <a:gd name="adj" fmla="val 8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148840"/>
            <a:ext cx="53035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D9D2F0"/>
                </a:solidFill>
                <a:latin typeface="Times New Roman"/>
              </a:rPr>
              <a:t>Novembar 1922.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651760"/>
            <a:ext cx="530352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F2C14E"/>
                </a:solidFill>
                <a:latin typeface="Times New Roman"/>
              </a:rPr>
              <a:t>70.000.000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520439"/>
            <a:ext cx="53035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maraka za iste novine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10652760" cy="1737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Za manje od dve godine cena istih novina porasla je sa 0,30 na 70.000.000 maraka.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U sličnom procentu porasle su i cene drugih roba i usluga. Ovo je jedan od najspektakularnijih primera </a:t>
            </a:r>
            <a:r>
              <a:rPr sz="1800" b="1" i="0">
                <a:solidFill>
                  <a:srgbClr val="F2C14E"/>
                </a:solidFill>
                <a:latin typeface="Times New Roman"/>
              </a:rPr>
              <a:t>inflacije</a:t>
            </a:r>
            <a:r>
              <a:rPr sz="1800" b="0" i="0">
                <a:solidFill>
                  <a:srgbClr val="FFFFFF"/>
                </a:solidFill>
                <a:latin typeface="Times New Roman"/>
              </a:rPr>
              <a:t> – povećanja opšteg nivoa cena u privredi.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Šta je inflacija?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65960"/>
            <a:ext cx="10652760" cy="1280160"/>
          </a:xfrm>
          <a:prstGeom prst="roundRect">
            <a:avLst>
              <a:gd name="adj" fmla="val 8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241280" cy="12801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2C14E"/>
                </a:solidFill>
                <a:latin typeface="Times New Roman"/>
              </a:rPr>
              <a:t>Inflacija</a:t>
            </a:r>
            <a:r>
              <a:rPr sz="2400" b="0" i="0">
                <a:solidFill>
                  <a:srgbClr val="FFFFFF"/>
                </a:solidFill>
                <a:latin typeface="Times New Roman"/>
              </a:rPr>
              <a:t> – povećanje opšteg nivoa cena u privredi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566160"/>
            <a:ext cx="5097780" cy="237744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4640580" cy="2103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2C14E"/>
                </a:solidFill>
                <a:latin typeface="Times New Roman"/>
              </a:rPr>
              <a:t>Problem svih zemalja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Inflacija je manji ili veći ekonomski problem u svim zemljama.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780" y="3566160"/>
            <a:ext cx="5097780" cy="237744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9380" y="3749039"/>
            <a:ext cx="4640580" cy="2103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2C14E"/>
                </a:solidFill>
                <a:latin typeface="Times New Roman"/>
              </a:rPr>
              <a:t>Cilj ekonomske politike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Pošto inflacija izaziva brojne negativne pojave u društvu, održavanje niske inflacije jeste cilj nosilaca ekonomske politike širom sveta.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Koji su uzroci inflacije?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6527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U većini slučajeva uzrok visoke ili dugotrajne inflacije je isti – </a:t>
            </a:r>
            <a:r>
              <a:rPr sz="2000" b="1" i="0">
                <a:solidFill>
                  <a:srgbClr val="F2C14E"/>
                </a:solidFill>
                <a:latin typeface="Times New Roman"/>
              </a:rPr>
              <a:t>rast količine novca u opticaju.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880360"/>
            <a:ext cx="5120640" cy="320040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4754880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2C14E"/>
                </a:solidFill>
                <a:latin typeface="Times New Roman"/>
              </a:rPr>
              <a:t>Mehanizam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Kada država kreira veliku količinu nacionalnog novca, njegova vrednost opada.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Visoka inflacija → veliki porast količine novca.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Niska inflacija → spor rast količine novca.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880360"/>
            <a:ext cx="5120640" cy="320040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017520"/>
            <a:ext cx="4754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2C14E"/>
                </a:solidFill>
                <a:latin typeface="Times New Roman"/>
              </a:rPr>
              <a:t>Nemačka, rane 1920-te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66160"/>
            <a:ext cx="475488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 i="0">
                <a:solidFill>
                  <a:srgbClr val="F2C14E"/>
                </a:solidFill>
                <a:latin typeface="Times New Roman"/>
              </a:rPr>
              <a:t>×3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47548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svakog meseca – i cene i količina novca bile su u proseku utrostručene.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Inflacija i nezaposlenost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65276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Smanjenje inflacije često je uzrok privremenog rasta nezaposlenosti. Zato država praktično mora da bira između inflacije i nezaposlenosti.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108960"/>
            <a:ext cx="4206240" cy="292608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3840480" cy="2926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F2C14E"/>
                </a:solidFill>
                <a:latin typeface="Times New Roman"/>
              </a:rPr>
              <a:t>Inflacija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Politika koja je smanjuje...</a:t>
            </a:r>
          </a:p>
        </p:txBody>
      </p:sp>
      <p:sp>
        <p:nvSpPr>
          <p:cNvPr id="6" name="Left-Right Arrow 5"/>
          <p:cNvSpPr/>
          <p:nvPr/>
        </p:nvSpPr>
        <p:spPr>
          <a:xfrm>
            <a:off x="5166360" y="4206240"/>
            <a:ext cx="1051560" cy="685800"/>
          </a:xfrm>
          <a:prstGeom prst="leftRightArrow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0" y="3108960"/>
            <a:ext cx="4846320" cy="292608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3108960"/>
            <a:ext cx="4480560" cy="2926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CAEE8"/>
                </a:solidFill>
                <a:latin typeface="Times New Roman"/>
              </a:rPr>
              <a:t>Nezaposlenost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...kratkoročno dovodi do povećanja nezaposlenosti.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Kratkoročni i dugoročni efekti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65276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Tokom perioda od godinu ili dve, državna politika gura inflaciju i nezaposlenost u suprotnim pravcima. Primer: država smanji količinu novca da bi smanjila inflaciju.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017520"/>
            <a:ext cx="5097780" cy="219456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473202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2C14E"/>
                </a:solidFill>
                <a:latin typeface="Times New Roman"/>
              </a:rPr>
              <a:t>Kratkoročno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Manje novca u opticaju → manja potrošnja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Preduzeća prodaju manje roba i usluga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Manja prodaja → otpuštanje radnika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0780" y="3017520"/>
            <a:ext cx="5097780" cy="219456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3660" y="3154680"/>
            <a:ext cx="473202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2C14E"/>
                </a:solidFill>
                <a:latin typeface="Times New Roman"/>
              </a:rPr>
              <a:t>Dugoročno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Manje novca → manja tražnja roba i usluga → niže cene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Jedini rezultat ove politike biće opadanje opšteg nivoa cena.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Kada više novca ne izaziva inflaciju?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6527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Times New Roman"/>
              </a:rPr>
              <a:t>U kojoj situaciji ne dolazi do inflacije i pored povećanja količine novca u opticaju?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743200"/>
            <a:ext cx="1065276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24128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2C14E"/>
                </a:solidFill>
                <a:latin typeface="Times New Roman"/>
              </a:rPr>
              <a:t>Odgovor: kada se istovremeno povećava proizvodnja!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31920"/>
            <a:ext cx="5097780" cy="155448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69079"/>
            <a:ext cx="473202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CCAEE8"/>
                </a:solidFill>
                <a:latin typeface="Times New Roman"/>
              </a:rPr>
              <a:t>Više novca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Povećava tražnju roba i usluga, što može dovesti do povećanja cena.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0780" y="3931920"/>
            <a:ext cx="5097780" cy="155448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3660" y="4069079"/>
            <a:ext cx="473202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2C14E"/>
                </a:solidFill>
                <a:latin typeface="Times New Roman"/>
              </a:rPr>
              <a:t>Više proizvodnje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Ako istovremeno raste i ponuda roba i usluga, ona može da poništi efekat povećane tražnje na cene.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Najvažnija poruka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65960"/>
            <a:ext cx="1065276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10012680" cy="1600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1">
                <a:solidFill>
                  <a:srgbClr val="F2C14E"/>
                </a:solidFill>
                <a:latin typeface="Times New Roman"/>
              </a:rPr>
              <a:t>„Povećanje količine novca u opticaju ima opravdanja samo ukoliko se povećala proizvodnja!“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886200"/>
            <a:ext cx="3307080" cy="219456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4069079"/>
            <a:ext cx="548640" cy="5486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2A145C"/>
                </a:solidFill>
                <a:latin typeface="Times New Roma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09160"/>
            <a:ext cx="2941320" cy="1325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U suprotnom, neminovno dolazi do inflacije.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3886200"/>
            <a:ext cx="3307080" cy="219456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87240" y="4069079"/>
            <a:ext cx="548640" cy="5486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2A145C"/>
                </a:solidFill>
                <a:latin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1520" y="4709160"/>
            <a:ext cx="2941320" cy="1325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Količina odštampanog novca puštenog u opticaj mora biti srazmerna povećanju obima proizvodnje.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1480" y="3886200"/>
            <a:ext cx="3307080" cy="2194560"/>
          </a:xfrm>
          <a:prstGeom prst="roundRect">
            <a:avLst>
              <a:gd name="adj" fmla="val 8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60080" y="4069079"/>
            <a:ext cx="548640" cy="5486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2A145C"/>
                </a:solidFill>
                <a:latin typeface="Times New Roman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4359" y="4709160"/>
            <a:ext cx="2941320" cy="1325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Neznatno povećanje proizvodnje praćeno štampanjem velike količine novca takođe dovodi do rasta inflacije.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Celestial</vt:lpstr>
      <vt:lpstr>Ekonomija za pravnike</vt:lpstr>
      <vt:lpstr>Načelo 8: INstitucije determinišu ponasanje privrednih subjekata </vt:lpstr>
      <vt:lpstr>Podela institucija i karakteristike</vt:lpstr>
      <vt:lpstr>troškovi</vt:lpstr>
      <vt:lpstr>Efikasnost ekonomskog sistema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154</cp:revision>
  <dcterms:created xsi:type="dcterms:W3CDTF">2026-10-21T12:34:49Z</dcterms:created>
  <dcterms:modified xsi:type="dcterms:W3CDTF">2026-10-21T20:23:07Z</dcterms:modified>
</cp:coreProperties>
</file>